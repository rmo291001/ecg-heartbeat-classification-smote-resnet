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2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bbie Mohammad Omar" userId="236d229c01356576" providerId="LiveId" clId="{BB4F9202-FE2A-4DB3-99E8-EDD83B39CA97}"/>
    <pc:docChg chg="undo custSel modSld">
      <pc:chgData name="Ribbie Mohammad Omar" userId="236d229c01356576" providerId="LiveId" clId="{BB4F9202-FE2A-4DB3-99E8-EDD83B39CA97}" dt="2026-07-06T22:09:35.057" v="67" actId="20577"/>
      <pc:docMkLst>
        <pc:docMk/>
      </pc:docMkLst>
      <pc:sldChg chg="modSp mod">
        <pc:chgData name="Ribbie Mohammad Omar" userId="236d229c01356576" providerId="LiveId" clId="{BB4F9202-FE2A-4DB3-99E8-EDD83B39CA97}" dt="2026-07-06T22:09:35.057" v="67" actId="20577"/>
        <pc:sldMkLst>
          <pc:docMk/>
          <pc:sldMk cId="0" sldId="256"/>
        </pc:sldMkLst>
        <pc:spChg chg="mod">
          <ac:chgData name="Ribbie Mohammad Omar" userId="236d229c01356576" providerId="LiveId" clId="{BB4F9202-FE2A-4DB3-99E8-EDD83B39CA97}" dt="2026-07-06T22:08:32.176" v="17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06T22:09:35.057" v="67" actId="20577"/>
          <ac:spMkLst>
            <pc:docMk/>
            <pc:sldMk cId="0" sldId="256"/>
            <ac:spMk id="26" creationId="{F05A63B7-FA24-5A7C-C6D1-C45A7F717F6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beats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1C-4D95-83E6-46FC50616B6A}"/>
              </c:ext>
            </c:extLst>
          </c:dPt>
          <c:dPt>
            <c:idx val="1"/>
            <c:invertIfNegative val="0"/>
            <c:bubble3D val="0"/>
            <c:spPr>
              <a:solidFill>
                <a:srgbClr val="0FA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1C-4D95-83E6-46FC50616B6A}"/>
              </c:ext>
            </c:extLst>
          </c:dPt>
          <c:dPt>
            <c:idx val="2"/>
            <c:invertIfNegative val="0"/>
            <c:bubble3D val="0"/>
            <c:spPr>
              <a:solidFill>
                <a:srgbClr val="0FA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1C-4D95-83E6-46FC50616B6A}"/>
              </c:ext>
            </c:extLst>
          </c:dPt>
          <c:dPt>
            <c:idx val="3"/>
            <c:invertIfNegative val="0"/>
            <c:bubble3D val="0"/>
            <c:spPr>
              <a:solidFill>
                <a:srgbClr val="0FA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1C-4D95-83E6-46FC50616B6A}"/>
              </c:ext>
            </c:extLst>
          </c:dPt>
          <c:dPt>
            <c:idx val="4"/>
            <c:invertIfNegative val="0"/>
            <c:bubble3D val="0"/>
            <c:spPr>
              <a:solidFill>
                <a:srgbClr val="0FA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B1C-4D95-83E6-46FC50616B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 (Normal)</c:v>
                </c:pt>
                <c:pt idx="1">
                  <c:v>Q</c:v>
                </c:pt>
                <c:pt idx="2">
                  <c:v>V</c:v>
                </c:pt>
                <c:pt idx="3">
                  <c:v>S</c:v>
                </c:pt>
                <c:pt idx="4">
                  <c:v>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72471</c:v>
                </c:pt>
                <c:pt idx="1">
                  <c:v>6431</c:v>
                </c:pt>
                <c:pt idx="2">
                  <c:v>5788</c:v>
                </c:pt>
                <c:pt idx="3">
                  <c:v>2223</c:v>
                </c:pt>
                <c:pt idx="4">
                  <c:v>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1C-4D95-83E6-46FC50616B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94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669280" cy="56692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377440"/>
            <a:ext cx="4572000" cy="4572000"/>
          </a:xfrm>
          <a:prstGeom prst="ellipse">
            <a:avLst/>
          </a:prstGeom>
          <a:solidFill>
            <a:srgbClr val="0B7C7C">
              <a:alpha val="22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6035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| ECE - 4144</a:t>
            </a:r>
            <a:br>
              <a:rPr lang="en-US" sz="13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ENGINEERING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ECG Heartbeat Classification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13232" y="25420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6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Transferable Representation — and fixing its class-imbalance blind spot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651514" y="3675888"/>
            <a:ext cx="175565" cy="256032"/>
          </a:xfrm>
          <a:prstGeom prst="line">
            <a:avLst/>
          </a:prstGeom>
          <a:noFill/>
          <a:ln w="31750">
            <a:solidFill>
              <a:srgbClr val="0FA3A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27079" y="3931920"/>
            <a:ext cx="409651" cy="0"/>
          </a:xfrm>
          <a:prstGeom prst="line">
            <a:avLst/>
          </a:prstGeom>
          <a:noFill/>
          <a:ln w="31750">
            <a:solidFill>
              <a:srgbClr val="0FA3A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6730" y="3931920"/>
            <a:ext cx="351130" cy="0"/>
          </a:xfrm>
          <a:prstGeom prst="line">
            <a:avLst/>
          </a:prstGeom>
          <a:noFill/>
          <a:ln w="31750">
            <a:solidFill>
              <a:srgbClr val="0FA3A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87860" y="3931920"/>
            <a:ext cx="234086" cy="64008"/>
          </a:xfrm>
          <a:prstGeom prst="line">
            <a:avLst/>
          </a:prstGeom>
          <a:noFill/>
          <a:ln w="31750">
            <a:solidFill>
              <a:srgbClr val="0FA3A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21946" y="3995928"/>
            <a:ext cx="351130" cy="0"/>
          </a:xfrm>
          <a:prstGeom prst="line">
            <a:avLst/>
          </a:prstGeom>
          <a:noFill/>
          <a:ln w="31750">
            <a:solidFill>
              <a:srgbClr val="0FA3A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3076" y="3855110"/>
            <a:ext cx="234086" cy="76810"/>
          </a:xfrm>
          <a:prstGeom prst="line">
            <a:avLst/>
          </a:prstGeom>
          <a:noFill/>
          <a:ln w="31750">
            <a:solidFill>
              <a:srgbClr val="0FA3A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7162" y="3931920"/>
            <a:ext cx="1170432" cy="0"/>
          </a:xfrm>
          <a:prstGeom prst="line">
            <a:avLst/>
          </a:prstGeom>
          <a:noFill/>
          <a:ln w="31750">
            <a:solidFill>
              <a:srgbClr val="0FA3A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026" y="47000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</a:t>
            </a:r>
            <a:r>
              <a:rPr lang="en-US" sz="13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Kachuee, Fazeli &amp; Sarrafzadeh — IEEE ICHI 2018  (arXiv:1805.00794)</a:t>
            </a:r>
            <a:endParaRPr lang="en-US" sz="13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5A63B7-FA24-5A7C-C6D1-C45A7F717F69}"/>
              </a:ext>
            </a:extLst>
          </p:cNvPr>
          <p:cNvSpPr txBox="1"/>
          <p:nvPr/>
        </p:nvSpPr>
        <p:spPr>
          <a:xfrm>
            <a:off x="603505" y="3247668"/>
            <a:ext cx="398948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MEMBERS:</a:t>
            </a:r>
          </a:p>
          <a:p>
            <a:r>
              <a:rPr lang="en-US" sz="12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RIBBIE MOHAMMAD OMAR</a:t>
            </a:r>
            <a:br>
              <a:rPr lang="en-US" sz="12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2110041</a:t>
            </a:r>
            <a:br>
              <a:rPr lang="en-US" sz="12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2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kern="0" spc="3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ABDULLAH IBNA SHAD</a:t>
            </a:r>
          </a:p>
          <a:p>
            <a:r>
              <a:rPr lang="en-US" sz="1200" b="1" kern="0" spc="300" dirty="0">
                <a:solidFill>
                  <a:srgbClr val="0FA3A3"/>
                </a:solidFill>
                <a:latin typeface="Calibri" pitchFamily="34" charset="0"/>
                <a:cs typeface="Calibri" pitchFamily="34" charset="-120"/>
              </a:rPr>
              <a:t>2110042</a:t>
            </a:r>
            <a:endParaRPr lang="en-US" sz="1200" b="1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Background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signal, and why it needs automating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3246120" cy="342900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481328"/>
            <a:ext cx="28803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= the heart's electrical signal across one cardiac cycle.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wave: atria contract · QRS: ventricles contract · T wave: ventricles recover.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interpretation is slow and doesn't scale → motivates automated classification.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AAMI EC57 standard groups beats into 5 classes: N, S, V, F, Q.</a:t>
            </a:r>
            <a:endParaRPr lang="en-US" sz="1350" dirty="0"/>
          </a:p>
        </p:txBody>
      </p:sp>
      <p:pic>
        <p:nvPicPr>
          <p:cNvPr id="8" name="Image 1" descr="/home/claude/ecg_deck/img/ecg_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589" y="1371600"/>
            <a:ext cx="2830982" cy="1572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7640" y="29626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PQRST waveform — what the signal looks like</a:t>
            </a:r>
            <a:endParaRPr lang="en-US" sz="1050" dirty="0"/>
          </a:p>
        </p:txBody>
      </p:sp>
      <p:pic>
        <p:nvPicPr>
          <p:cNvPr id="10" name="Image 2" descr="/home/claude/ecg_deck/img/heart_condu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0981" y="3328416"/>
            <a:ext cx="2188199" cy="15727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77640" y="4919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Conduction system (SA→AV→Purkinje) — why it looks that way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Literature Review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base paper sits, and what beats it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39572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imbalance?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MIT-BIH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Kachuee et al., 2018  (base paper)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residual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CNN + BLSTM 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bidirectional 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7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SMOTE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ResNet-18  (2021)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Deeper residual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deep ResNet + SMOTE  (2023)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ResNet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7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SMOTE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per-class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22452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4F4F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352544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422452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class imbalance is a cheaper route to better scores than piling on a deeper architecture.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Motivation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drowns out the rest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7947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517904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is 82.8% Normal vs. ~17% combined arrhythmia beats.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predict Normal" already scores ≈ 83% → headline accuracy is misleading.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rarest class (F, 0.7%) is exactly the clinically dangerous one.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rebalance the training data before the classifier ever sees it.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42245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6283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83%</a:t>
            </a:r>
            <a:endParaRPr lang="en-US" sz="3400" dirty="0"/>
          </a:p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accuracy from guessing "Normal" every time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480560" y="1371600"/>
            <a:ext cx="4206240" cy="3630168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7720" y="1481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training beats per class</a:t>
            </a:r>
            <a:endParaRPr lang="en-US" sz="12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26280" y="1783080"/>
          <a:ext cx="41148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Tentative Model &amp; Dataset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backbone, one new block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81328"/>
            <a:ext cx="144109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4D0DC"/>
            </a:solidFill>
            <a:prstDash val="solid"/>
          </a:ln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600200"/>
            <a:ext cx="14410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ECG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14410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II · 125 Hz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16582" y="1947672"/>
            <a:ext cx="219456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54326" y="1481328"/>
            <a:ext cx="144109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4D0DC"/>
            </a:solidFill>
            <a:prstDash val="solid"/>
          </a:ln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54326" y="1600200"/>
            <a:ext cx="14410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segment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154326" y="2084832"/>
            <a:ext cx="14410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samples/beat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13709" y="1947672"/>
            <a:ext cx="219456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851453" y="1481328"/>
            <a:ext cx="1441094" cy="932688"/>
          </a:xfrm>
          <a:prstGeom prst="roundRect">
            <a:avLst>
              <a:gd name="adj" fmla="val 7843"/>
            </a:avLst>
          </a:prstGeom>
          <a:solidFill>
            <a:srgbClr val="0FA3A3"/>
          </a:solidFill>
          <a:ln/>
          <a:effectLst>
            <a:outerShdw blurRad="101600" dist="38100" dir="5400000" algn="bl" rotWithShape="0">
              <a:srgbClr val="0B1F3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851453" y="1600200"/>
            <a:ext cx="14410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851453" y="2084832"/>
            <a:ext cx="14410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6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our block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10835" y="1947672"/>
            <a:ext cx="219456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548579" y="1481328"/>
            <a:ext cx="144109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4D0DC"/>
            </a:solidFill>
            <a:prstDash val="solid"/>
          </a:ln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48579" y="1600200"/>
            <a:ext cx="14410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Residual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548579" y="2084832"/>
            <a:ext cx="14410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backbone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007962" y="1947672"/>
            <a:ext cx="219456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245706" y="1481328"/>
            <a:ext cx="144109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4D0DC"/>
            </a:solidFill>
            <a:prstDash val="solid"/>
          </a:ln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245706" y="1600200"/>
            <a:ext cx="14410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classes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245706" y="2084832"/>
            <a:ext cx="14410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S · V · F · Q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now reports </a:t>
            </a:r>
            <a:r>
              <a:rPr lang="en-US" sz="1250" b="1" dirty="0">
                <a:solidFill>
                  <a:srgbClr val="0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per-class precision / recall / F1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accuracy alone.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MIT-BIH Arrhythmia (PhysioNet) via the pre-processed Kaggle CSVs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34290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5720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C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109,446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57200" y="4041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beats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148840" y="34290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14884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C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187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2148840" y="4041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/ beat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40480" y="34290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84048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C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125 Hz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840480" y="4041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532120" y="34290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53212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C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87,554 / 21,892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5532120" y="4041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223760" y="34290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F3A">
                <a:alpha val="1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722376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C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7223760" y="4041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AAMI classes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blocks = unchanged baseline    ·    Teal block = our entire contribution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560320"/>
            <a:ext cx="5120640" cy="51206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943600" y="758952"/>
            <a:ext cx="477317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20917" y="758952"/>
            <a:ext cx="106070" cy="30724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6987" y="789676"/>
            <a:ext cx="106070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33058" y="728228"/>
            <a:ext cx="106070" cy="30724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39128" y="758952"/>
            <a:ext cx="265176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04304" y="758952"/>
            <a:ext cx="106070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10374" y="758952"/>
            <a:ext cx="79553" cy="134417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89927" y="893369"/>
            <a:ext cx="79553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69480" y="605333"/>
            <a:ext cx="79553" cy="153619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49033" y="758952"/>
            <a:ext cx="185623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34656" y="758952"/>
            <a:ext cx="159106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93762" y="758952"/>
            <a:ext cx="106070" cy="38405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99832" y="797357"/>
            <a:ext cx="159106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58938" y="712866"/>
            <a:ext cx="106070" cy="46086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758952"/>
            <a:ext cx="530352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141732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23405F"/>
            </a:solidFill>
            <a:prstDash val="solid"/>
          </a:ln>
          <a:effectLst>
            <a:outerShdw blurRad="101600" dist="38100" dir="5400000" algn="bl" rotWithShape="0">
              <a:srgbClr val="0B1F3A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8952" y="1691640"/>
            <a:ext cx="640080" cy="64008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1856232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58952" y="2441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5895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Imbalance hides failure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58952" y="3172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6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reports strong overall accuracy but likely under-detects rare arrhythmias.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127248" y="2720340"/>
            <a:ext cx="237744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3383280" y="141732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23405F"/>
            </a:solidFill>
            <a:prstDash val="solid"/>
          </a:ln>
          <a:effectLst>
            <a:outerShdw blurRad="101600" dist="38100" dir="5400000" algn="bl" rotWithShape="0">
              <a:srgbClr val="0B1F3A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639312" y="169164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904" y="1856232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639312" y="2441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363931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SMOTE balancing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3639312" y="3172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6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minority classes before training — no architecture change, ~3 lines of code.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007608" y="2720340"/>
            <a:ext cx="237744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6263640" y="141732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23405F"/>
            </a:solidFill>
            <a:prstDash val="solid"/>
          </a:ln>
          <a:effectLst>
            <a:outerShdw blurRad="101600" dist="38100" dir="5400000" algn="bl" rotWithShape="0">
              <a:srgbClr val="0B1F3A">
                <a:alpha val="16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519672" y="1691640"/>
            <a:ext cx="640080" cy="640080"/>
          </a:xfrm>
          <a:prstGeom prst="ellipse">
            <a:avLst/>
          </a:prstGeom>
          <a:solidFill>
            <a:srgbClr val="E6A817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1856232"/>
            <a:ext cx="310896" cy="31089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519672" y="2441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GAIN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51967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Higher recall on rare beats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6519672" y="31729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6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overall accuracy, clearly better recall / F1 on S, V, F, Q — the dangerous classes.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classes SMOTE improves are exactly the clinically dangerous arrhythmias.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521</Words>
  <Application>Microsoft Office PowerPoint</Application>
  <PresentationFormat>On-screen Show (16:9)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ECG Heartbeat Classification</dc:title>
  <dc:subject>PptxGenJS Presentation</dc:subject>
  <dc:creator>Ribbie</dc:creator>
  <cp:lastModifiedBy>Ribbie Mohammad Omar</cp:lastModifiedBy>
  <cp:revision>2</cp:revision>
  <dcterms:created xsi:type="dcterms:W3CDTF">2026-07-06T21:49:02Z</dcterms:created>
  <dcterms:modified xsi:type="dcterms:W3CDTF">2026-07-06T22:09:43Z</dcterms:modified>
</cp:coreProperties>
</file>