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bbie Mohammad Omar" userId="236d229c01356576" providerId="LiveId" clId="{BB4F9202-FE2A-4DB3-99E8-EDD83B39CA97}"/>
    <pc:docChg chg="undo custSel modSld">
      <pc:chgData name="Ribbie Mohammad Omar" userId="236d229c01356576" providerId="LiveId" clId="{BB4F9202-FE2A-4DB3-99E8-EDD83B39CA97}" dt="2026-07-13T21:10:22.684" v="428" actId="255"/>
      <pc:docMkLst>
        <pc:docMk/>
      </pc:docMkLst>
      <pc:sldChg chg="addSp delSp modSp mod">
        <pc:chgData name="Ribbie Mohammad Omar" userId="236d229c01356576" providerId="LiveId" clId="{BB4F9202-FE2A-4DB3-99E8-EDD83B39CA97}" dt="2026-07-13T21:10:22.684" v="428" actId="255"/>
        <pc:sldMkLst>
          <pc:docMk/>
          <pc:sldMk cId="0" sldId="256"/>
        </pc:sldMkLst>
        <pc:spChg chg="mod">
          <ac:chgData name="Ribbie Mohammad Omar" userId="236d229c01356576" providerId="LiveId" clId="{BB4F9202-FE2A-4DB3-99E8-EDD83B39CA97}" dt="2026-07-13T21:10:22.684" v="428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10:12.072" v="427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10:22.684" v="428" actId="255"/>
          <ac:spMkLst>
            <pc:docMk/>
            <pc:sldMk cId="0" sldId="256"/>
            <ac:spMk id="9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10:05.854" v="426" actId="255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10:12.072" v="427" actId="255"/>
          <ac:spMkLst>
            <pc:docMk/>
            <pc:sldMk cId="0" sldId="256"/>
            <ac:spMk id="11" creationId="{00000000-0000-0000-0000-000000000000}"/>
          </ac:spMkLst>
        </pc:spChg>
        <pc:spChg chg="del">
          <ac:chgData name="Ribbie Mohammad Omar" userId="236d229c01356576" providerId="LiveId" clId="{BB4F9202-FE2A-4DB3-99E8-EDD83B39CA97}" dt="2026-07-13T20:47:51.839" v="41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47:35.875" v="37" actId="255"/>
          <ac:spMkLst>
            <pc:docMk/>
            <pc:sldMk cId="0" sldId="256"/>
            <ac:spMk id="1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47:35.875" v="37" actId="25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47:35.875" v="37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47:35.875" v="37" actId="255"/>
          <ac:spMkLst>
            <pc:docMk/>
            <pc:sldMk cId="0" sldId="256"/>
            <ac:spMk id="21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47:35.875" v="37" actId="255"/>
          <ac:spMkLst>
            <pc:docMk/>
            <pc:sldMk cId="0" sldId="256"/>
            <ac:spMk id="23" creationId="{00000000-0000-0000-0000-000000000000}"/>
          </ac:spMkLst>
        </pc:spChg>
        <pc:spChg chg="add del mod">
          <ac:chgData name="Ribbie Mohammad Omar" userId="236d229c01356576" providerId="LiveId" clId="{BB4F9202-FE2A-4DB3-99E8-EDD83B39CA97}" dt="2026-07-13T21:07:47.392" v="412" actId="478"/>
          <ac:spMkLst>
            <pc:docMk/>
            <pc:sldMk cId="0" sldId="256"/>
            <ac:spMk id="26" creationId="{DB007446-7BDE-26BF-B21E-53A895DBB094}"/>
          </ac:spMkLst>
        </pc:spChg>
        <pc:picChg chg="add mod">
          <ac:chgData name="Ribbie Mohammad Omar" userId="236d229c01356576" providerId="LiveId" clId="{BB4F9202-FE2A-4DB3-99E8-EDD83B39CA97}" dt="2026-07-13T21:09:09.480" v="418" actId="1076"/>
          <ac:picMkLst>
            <pc:docMk/>
            <pc:sldMk cId="0" sldId="256"/>
            <ac:picMk id="28" creationId="{35FF5A49-A828-2B08-9A44-8DA5442EE602}"/>
          </ac:picMkLst>
        </pc:picChg>
      </pc:sldChg>
      <pc:sldChg chg="addSp delSp modSp mod">
        <pc:chgData name="Ribbie Mohammad Omar" userId="236d229c01356576" providerId="LiveId" clId="{BB4F9202-FE2A-4DB3-99E8-EDD83B39CA97}" dt="2026-07-13T20:51:56.120" v="93" actId="1038"/>
        <pc:sldMkLst>
          <pc:docMk/>
          <pc:sldMk cId="0" sldId="257"/>
        </pc:sldMkLst>
        <pc:spChg chg="mod">
          <ac:chgData name="Ribbie Mohammad Omar" userId="236d229c01356576" providerId="LiveId" clId="{BB4F9202-FE2A-4DB3-99E8-EDD83B39CA97}" dt="2026-07-13T20:51:56.120" v="93" actId="103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1:56.120" v="93" actId="1038"/>
          <ac:spMkLst>
            <pc:docMk/>
            <pc:sldMk cId="0" sldId="257"/>
            <ac:spMk id="19" creationId="{00000000-0000-0000-0000-000000000000}"/>
          </ac:spMkLst>
        </pc:spChg>
        <pc:picChg chg="add del mod">
          <ac:chgData name="Ribbie Mohammad Omar" userId="236d229c01356576" providerId="LiveId" clId="{BB4F9202-FE2A-4DB3-99E8-EDD83B39CA97}" dt="2026-07-13T20:50:17.339" v="52" actId="478"/>
          <ac:picMkLst>
            <pc:docMk/>
            <pc:sldMk cId="0" sldId="257"/>
            <ac:picMk id="20" creationId="{00000000-0000-0000-0000-000000000000}"/>
          </ac:picMkLst>
        </pc:picChg>
        <pc:picChg chg="add del mod">
          <ac:chgData name="Ribbie Mohammad Omar" userId="236d229c01356576" providerId="LiveId" clId="{BB4F9202-FE2A-4DB3-99E8-EDD83B39CA97}" dt="2026-07-13T20:48:38.477" v="49" actId="931"/>
          <ac:picMkLst>
            <pc:docMk/>
            <pc:sldMk cId="0" sldId="257"/>
            <ac:picMk id="25" creationId="{BAE1533B-BEEA-6CCA-F6F7-94761ABF457C}"/>
          </ac:picMkLst>
        </pc:picChg>
        <pc:picChg chg="add mod">
          <ac:chgData name="Ribbie Mohammad Omar" userId="236d229c01356576" providerId="LiveId" clId="{BB4F9202-FE2A-4DB3-99E8-EDD83B39CA97}" dt="2026-07-13T20:51:56.120" v="93" actId="1038"/>
          <ac:picMkLst>
            <pc:docMk/>
            <pc:sldMk cId="0" sldId="257"/>
            <ac:picMk id="27" creationId="{DD10185D-58C2-D85B-29F2-DA25B1BF3561}"/>
          </ac:picMkLst>
        </pc:picChg>
      </pc:sldChg>
      <pc:sldChg chg="modSp mod">
        <pc:chgData name="Ribbie Mohammad Omar" userId="236d229c01356576" providerId="LiveId" clId="{BB4F9202-FE2A-4DB3-99E8-EDD83B39CA97}" dt="2026-07-13T20:53:32.159" v="123" actId="1037"/>
        <pc:sldMkLst>
          <pc:docMk/>
          <pc:sldMk cId="0" sldId="258"/>
        </pc:sldMkLst>
        <pc:spChg chg="mod">
          <ac:chgData name="Ribbie Mohammad Omar" userId="236d229c01356576" providerId="LiveId" clId="{BB4F9202-FE2A-4DB3-99E8-EDD83B39CA97}" dt="2026-07-13T20:53:06.948" v="98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02.238" v="97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32.159" v="123" actId="103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02.238" v="97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32.159" v="123" actId="103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02.238" v="97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32.159" v="123" actId="103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02.238" v="97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32.159" v="123" actId="103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02.238" v="97" actId="25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3:32.159" v="123" actId="1037"/>
          <ac:spMkLst>
            <pc:docMk/>
            <pc:sldMk cId="0" sldId="258"/>
            <ac:spMk id="26" creationId="{00000000-0000-0000-0000-000000000000}"/>
          </ac:spMkLst>
        </pc:spChg>
        <pc:picChg chg="mod">
          <ac:chgData name="Ribbie Mohammad Omar" userId="236d229c01356576" providerId="LiveId" clId="{BB4F9202-FE2A-4DB3-99E8-EDD83B39CA97}" dt="2026-07-13T20:52:48.134" v="96" actId="1076"/>
          <ac:picMkLst>
            <pc:docMk/>
            <pc:sldMk cId="0" sldId="258"/>
            <ac:picMk id="4" creationId="{00000000-0000-0000-0000-000000000000}"/>
          </ac:picMkLst>
        </pc:picChg>
      </pc:sldChg>
      <pc:sldChg chg="delSp mod">
        <pc:chgData name="Ribbie Mohammad Omar" userId="236d229c01356576" providerId="LiveId" clId="{BB4F9202-FE2A-4DB3-99E8-EDD83B39CA97}" dt="2026-07-13T20:53:58.761" v="124" actId="478"/>
        <pc:sldMkLst>
          <pc:docMk/>
          <pc:sldMk cId="0" sldId="259"/>
        </pc:sldMkLst>
        <pc:spChg chg="del">
          <ac:chgData name="Ribbie Mohammad Omar" userId="236d229c01356576" providerId="LiveId" clId="{BB4F9202-FE2A-4DB3-99E8-EDD83B39CA97}" dt="2026-07-13T20:53:58.761" v="124" actId="478"/>
          <ac:spMkLst>
            <pc:docMk/>
            <pc:sldMk cId="0" sldId="259"/>
            <ac:spMk id="33" creationId="{00000000-0000-0000-0000-000000000000}"/>
          </ac:spMkLst>
        </pc:spChg>
      </pc:sldChg>
      <pc:sldChg chg="modSp mod">
        <pc:chgData name="Ribbie Mohammad Omar" userId="236d229c01356576" providerId="LiveId" clId="{BB4F9202-FE2A-4DB3-99E8-EDD83B39CA97}" dt="2026-07-13T20:55:53.438" v="125" actId="255"/>
        <pc:sldMkLst>
          <pc:docMk/>
          <pc:sldMk cId="0" sldId="260"/>
        </pc:sldMkLst>
        <pc:spChg chg="mod">
          <ac:chgData name="Ribbie Mohammad Omar" userId="236d229c01356576" providerId="LiveId" clId="{BB4F9202-FE2A-4DB3-99E8-EDD83B39CA97}" dt="2026-07-13T20:55:53.438" v="125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5:53.438" v="125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5:53.438" v="125" actId="25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5:53.438" v="125" actId="255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Ribbie Mohammad Omar" userId="236d229c01356576" providerId="LiveId" clId="{BB4F9202-FE2A-4DB3-99E8-EDD83B39CA97}" dt="2026-07-13T20:58:40.058" v="273" actId="14100"/>
        <pc:sldMkLst>
          <pc:docMk/>
          <pc:sldMk cId="0" sldId="261"/>
        </pc:sldMkLst>
        <pc:spChg chg="mod">
          <ac:chgData name="Ribbie Mohammad Omar" userId="236d229c01356576" providerId="LiveId" clId="{BB4F9202-FE2A-4DB3-99E8-EDD83B39CA97}" dt="2026-07-13T20:58:00.013" v="260" actId="1037"/>
          <ac:spMkLst>
            <pc:docMk/>
            <pc:sldMk cId="0" sldId="261"/>
            <ac:spMk id="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6:30.908" v="127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6:30.908" v="127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23.558" v="175" actId="103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23.558" v="175" actId="103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33.379" v="195" actId="103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33.379" v="195" actId="103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45.901" v="220" actId="103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8:27.797" v="272" actId="1038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8:40.058" v="273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8:19.324" v="269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8:07.870" v="268" actId="1038"/>
          <ac:spMkLst>
            <pc:docMk/>
            <pc:sldMk cId="0" sldId="261"/>
            <ac:spMk id="21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8:07.870" v="268" actId="1038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2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2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29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57:10.349" v="155" actId="1035"/>
          <ac:spMkLst>
            <pc:docMk/>
            <pc:sldMk cId="0" sldId="261"/>
            <ac:spMk id="32" creationId="{00000000-0000-0000-0000-000000000000}"/>
          </ac:spMkLst>
        </pc:spChg>
      </pc:sldChg>
      <pc:sldChg chg="modSp mod">
        <pc:chgData name="Ribbie Mohammad Omar" userId="236d229c01356576" providerId="LiveId" clId="{BB4F9202-FE2A-4DB3-99E8-EDD83B39CA97}" dt="2026-07-13T21:00:20.602" v="295" actId="255"/>
        <pc:sldMkLst>
          <pc:docMk/>
          <pc:sldMk cId="0" sldId="263"/>
        </pc:sldMkLst>
        <pc:spChg chg="mod">
          <ac:chgData name="Ribbie Mohammad Omar" userId="236d229c01356576" providerId="LiveId" clId="{BB4F9202-FE2A-4DB3-99E8-EDD83B39CA97}" dt="2026-07-13T21:00:20.602" v="295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0:20.602" v="295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0:20.602" v="295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0:20.602" v="295" actId="25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0:20.602" v="295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0:20.602" v="295" actId="255"/>
          <ac:spMkLst>
            <pc:docMk/>
            <pc:sldMk cId="0" sldId="263"/>
            <ac:spMk id="22" creationId="{00000000-0000-0000-0000-000000000000}"/>
          </ac:spMkLst>
        </pc:spChg>
      </pc:sldChg>
      <pc:sldChg chg="modSp mod">
        <pc:chgData name="Ribbie Mohammad Omar" userId="236d229c01356576" providerId="LiveId" clId="{BB4F9202-FE2A-4DB3-99E8-EDD83B39CA97}" dt="2026-07-13T21:01:02.220" v="315" actId="255"/>
        <pc:sldMkLst>
          <pc:docMk/>
          <pc:sldMk cId="0" sldId="264"/>
        </pc:sldMkLst>
        <pc:spChg chg="mod">
          <ac:chgData name="Ribbie Mohammad Omar" userId="236d229c01356576" providerId="LiveId" clId="{BB4F9202-FE2A-4DB3-99E8-EDD83B39CA97}" dt="2026-07-13T21:01:02.220" v="315" actId="255"/>
          <ac:spMkLst>
            <pc:docMk/>
            <pc:sldMk cId="0" sldId="264"/>
            <ac:spMk id="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02.220" v="315" actId="25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02.220" v="315" actId="25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02.220" v="315" actId="25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0:43.168" v="308" actId="1410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02.220" v="315" actId="25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0:47.229" v="309" actId="1410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02.220" v="315" actId="255"/>
          <ac:spMkLst>
            <pc:docMk/>
            <pc:sldMk cId="0" sldId="264"/>
            <ac:spMk id="24" creationId="{00000000-0000-0000-0000-000000000000}"/>
          </ac:spMkLst>
        </pc:spChg>
      </pc:sldChg>
      <pc:sldChg chg="modSp mod">
        <pc:chgData name="Ribbie Mohammad Omar" userId="236d229c01356576" providerId="LiveId" clId="{BB4F9202-FE2A-4DB3-99E8-EDD83B39CA97}" dt="2026-07-13T21:02:21.828" v="322" actId="1076"/>
        <pc:sldMkLst>
          <pc:docMk/>
          <pc:sldMk cId="0" sldId="265"/>
        </pc:sldMkLst>
        <pc:spChg chg="mod">
          <ac:chgData name="Ribbie Mohammad Omar" userId="236d229c01356576" providerId="LiveId" clId="{BB4F9202-FE2A-4DB3-99E8-EDD83B39CA97}" dt="2026-07-13T21:02:14.417" v="320" actId="255"/>
          <ac:spMkLst>
            <pc:docMk/>
            <pc:sldMk cId="0" sldId="265"/>
            <ac:spMk id="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2:14.417" v="320" actId="255"/>
          <ac:spMkLst>
            <pc:docMk/>
            <pc:sldMk cId="0" sldId="265"/>
            <ac:spMk id="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2:00.854" v="319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2:14.417" v="320" actId="25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2:14.417" v="320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2:00.854" v="319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2:14.417" v="320" actId="25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2:14.417" v="320" actId="255"/>
          <ac:spMkLst>
            <pc:docMk/>
            <pc:sldMk cId="0" sldId="265"/>
            <ac:spMk id="1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2:00.854" v="319" actId="25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27.469" v="316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53.245" v="318" actId="255"/>
          <ac:spMkLst>
            <pc:docMk/>
            <pc:sldMk cId="0" sldId="265"/>
            <ac:spMk id="1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30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3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3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3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1:48.339" v="317" actId="255"/>
          <ac:spMkLst>
            <pc:docMk/>
            <pc:sldMk cId="0" sldId="265"/>
            <ac:spMk id="38" creationId="{00000000-0000-0000-0000-000000000000}"/>
          </ac:spMkLst>
        </pc:spChg>
        <pc:picChg chg="mod">
          <ac:chgData name="Ribbie Mohammad Omar" userId="236d229c01356576" providerId="LiveId" clId="{BB4F9202-FE2A-4DB3-99E8-EDD83B39CA97}" dt="2026-07-13T21:02:21.828" v="322" actId="1076"/>
          <ac:picMkLst>
            <pc:docMk/>
            <pc:sldMk cId="0" sldId="265"/>
            <ac:picMk id="4" creationId="{00000000-0000-0000-0000-000000000000}"/>
          </ac:picMkLst>
        </pc:picChg>
      </pc:sldChg>
      <pc:sldChg chg="modSp mod">
        <pc:chgData name="Ribbie Mohammad Omar" userId="236d229c01356576" providerId="LiveId" clId="{BB4F9202-FE2A-4DB3-99E8-EDD83B39CA97}" dt="2026-07-13T21:03:04.588" v="325" actId="14100"/>
        <pc:sldMkLst>
          <pc:docMk/>
          <pc:sldMk cId="0" sldId="266"/>
        </pc:sldMkLst>
        <pc:spChg chg="mod">
          <ac:chgData name="Ribbie Mohammad Omar" userId="236d229c01356576" providerId="LiveId" clId="{BB4F9202-FE2A-4DB3-99E8-EDD83B39CA97}" dt="2026-07-13T21:03:04.588" v="325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3:04.588" v="325" actId="1410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3:04.588" v="325" actId="14100"/>
          <ac:spMkLst>
            <pc:docMk/>
            <pc:sldMk cId="0" sldId="266"/>
            <ac:spMk id="18" creationId="{00000000-0000-0000-0000-000000000000}"/>
          </ac:spMkLst>
        </pc:spChg>
      </pc:sldChg>
      <pc:sldChg chg="delSp modSp mod">
        <pc:chgData name="Ribbie Mohammad Omar" userId="236d229c01356576" providerId="LiveId" clId="{BB4F9202-FE2A-4DB3-99E8-EDD83B39CA97}" dt="2026-07-13T21:06:33.380" v="407" actId="255"/>
        <pc:sldMkLst>
          <pc:docMk/>
          <pc:sldMk cId="0" sldId="267"/>
        </pc:sldMkLst>
        <pc:spChg chg="mod">
          <ac:chgData name="Ribbie Mohammad Omar" userId="236d229c01356576" providerId="LiveId" clId="{BB4F9202-FE2A-4DB3-99E8-EDD83B39CA97}" dt="2026-07-13T21:04:55.980" v="364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4:33.308" v="361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4:40.493" v="362" actId="14100"/>
          <ac:spMkLst>
            <pc:docMk/>
            <pc:sldMk cId="0" sldId="267"/>
            <ac:spMk id="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3:54.668" v="359" actId="1038"/>
          <ac:spMkLst>
            <pc:docMk/>
            <pc:sldMk cId="0" sldId="267"/>
            <ac:spMk id="7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6:33.380" v="407" actId="255"/>
          <ac:spMkLst>
            <pc:docMk/>
            <pc:sldMk cId="0" sldId="267"/>
            <ac:spMk id="8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5:10.543" v="365" actId="255"/>
          <ac:spMkLst>
            <pc:docMk/>
            <pc:sldMk cId="0" sldId="267"/>
            <ac:spMk id="9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3:54.668" v="359" actId="1038"/>
          <ac:spMkLst>
            <pc:docMk/>
            <pc:sldMk cId="0" sldId="267"/>
            <ac:spMk id="11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6:33.380" v="407" actId="25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5:10.543" v="365" actId="25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3:54.668" v="359" actId="1038"/>
          <ac:spMkLst>
            <pc:docMk/>
            <pc:sldMk cId="0" sldId="267"/>
            <ac:spMk id="15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6:33.380" v="407" actId="255"/>
          <ac:spMkLst>
            <pc:docMk/>
            <pc:sldMk cId="0" sldId="267"/>
            <ac:spMk id="1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1:05:10.543" v="365" actId="255"/>
          <ac:spMkLst>
            <pc:docMk/>
            <pc:sldMk cId="0" sldId="267"/>
            <ac:spMk id="17" creationId="{00000000-0000-0000-0000-000000000000}"/>
          </ac:spMkLst>
        </pc:spChg>
        <pc:spChg chg="del">
          <ac:chgData name="Ribbie Mohammad Omar" userId="236d229c01356576" providerId="LiveId" clId="{BB4F9202-FE2A-4DB3-99E8-EDD83B39CA97}" dt="2026-07-13T21:03:22.570" v="328" actId="478"/>
          <ac:spMkLst>
            <pc:docMk/>
            <pc:sldMk cId="0" sldId="267"/>
            <ac:spMk id="18" creationId="{00000000-0000-0000-0000-000000000000}"/>
          </ac:spMkLst>
        </pc:spChg>
        <pc:spChg chg="del mod">
          <ac:chgData name="Ribbie Mohammad Omar" userId="236d229c01356576" providerId="LiveId" clId="{BB4F9202-FE2A-4DB3-99E8-EDD83B39CA97}" dt="2026-07-13T21:03:26.999" v="330" actId="478"/>
          <ac:spMkLst>
            <pc:docMk/>
            <pc:sldMk cId="0" sldId="267"/>
            <ac:spMk id="19" creationId="{00000000-0000-0000-0000-000000000000}"/>
          </ac:spMkLst>
        </pc:spChg>
        <pc:spChg chg="del mod">
          <ac:chgData name="Ribbie Mohammad Omar" userId="236d229c01356576" providerId="LiveId" clId="{BB4F9202-FE2A-4DB3-99E8-EDD83B39CA97}" dt="2026-07-13T21:03:25.862" v="329" actId="478"/>
          <ac:spMkLst>
            <pc:docMk/>
            <pc:sldMk cId="0" sldId="267"/>
            <ac:spMk id="20" creationId="{00000000-0000-0000-0000-000000000000}"/>
          </ac:spMkLst>
        </pc:spChg>
      </pc:sldChg>
      <pc:sldChg chg="modSp mod">
        <pc:chgData name="Ribbie Mohammad Omar" userId="236d229c01356576" providerId="LiveId" clId="{BB4F9202-FE2A-4DB3-99E8-EDD83B39CA97}" dt="2026-07-13T21:06:56.385" v="408" actId="255"/>
        <pc:sldMkLst>
          <pc:docMk/>
          <pc:sldMk cId="0" sldId="268"/>
        </pc:sldMkLst>
        <pc:spChg chg="mod">
          <ac:chgData name="Ribbie Mohammad Omar" userId="236d229c01356576" providerId="LiveId" clId="{BB4F9202-FE2A-4DB3-99E8-EDD83B39CA97}" dt="2026-07-13T21:06:56.385" v="408" actId="255"/>
          <ac:spMkLst>
            <pc:docMk/>
            <pc:sldMk cId="0" sldId="268"/>
            <ac:spMk id="6" creationId="{00000000-0000-0000-0000-000000000000}"/>
          </ac:spMkLst>
        </pc:spChg>
        <pc:spChg chg="mod">
          <ac:chgData name="Ribbie Mohammad Omar" userId="236d229c01356576" providerId="LiveId" clId="{BB4F9202-FE2A-4DB3-99E8-EDD83B39CA97}" dt="2026-07-13T20:47:06.332" v="36" actId="20577"/>
          <ac:spMkLst>
            <pc:docMk/>
            <pc:sldMk cId="0" sldId="268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A1A2E"/>
                </a:solidFill>
                <a:latin typeface="Calibri"/>
              </a:defRPr>
            </a:pPr>
            <a:r>
              <a:t>ECG Heartbeat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1E88E5"/>
                </a:solidFill>
                <a:latin typeface="Calibri"/>
              </a:defRPr>
            </a:pPr>
            <a:r>
              <a:t>Addressing Class Imbalance with SMOTE in Deep Residual CNNs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Ribbie Mohammad Omar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Roll: 2110041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Md. Abdullah </a:t>
            </a:r>
            <a:r>
              <a:rPr sz="2000" dirty="0" err="1"/>
              <a:t>Ibna</a:t>
            </a:r>
            <a:r>
              <a:rPr sz="2000" dirty="0"/>
              <a:t> Shad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Roll: 2110042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Department of </a:t>
            </a:r>
            <a:r>
              <a:rPr lang="en-US" sz="1600" dirty="0"/>
              <a:t>ECE</a:t>
            </a:r>
            <a:endParaRPr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9144000" y="1371600"/>
            <a:ext cx="2286000" cy="22860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5852160"/>
            <a:ext cx="173736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400" dirty="0"/>
              <a:t>1-D </a:t>
            </a:r>
            <a:r>
              <a:rPr sz="1400" dirty="0" err="1"/>
              <a:t>ResNet</a:t>
            </a:r>
            <a:endParaRPr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2743200" y="5852160"/>
            <a:ext cx="173736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400"/>
              <a:t>TensorFlow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5852160"/>
            <a:ext cx="173736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400"/>
              <a:t>SMOTE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5852160"/>
            <a:ext cx="173736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400"/>
              <a:t>MIT-BIH 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5852160"/>
            <a:ext cx="173736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5852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400"/>
              <a:t>5-Class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1 / 13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5FF5A49-A828-2B08-9A44-8DA5442EE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215" y="1418335"/>
            <a:ext cx="1843570" cy="22078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371600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Why Automated ECG Classification?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2560320" cy="6400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E88E5"/>
                </a:solidFill>
                <a:latin typeface="Calibri"/>
              </a:defRPr>
            </a:pPr>
            <a:r>
              <a:rPr dirty="0"/>
              <a:t>Patient</a:t>
            </a:r>
          </a:p>
        </p:txBody>
      </p:sp>
      <p:sp>
        <p:nvSpPr>
          <p:cNvPr id="6" name="Down Arrow 5"/>
          <p:cNvSpPr/>
          <p:nvPr/>
        </p:nvSpPr>
        <p:spPr>
          <a:xfrm>
            <a:off x="2240280" y="2304288"/>
            <a:ext cx="274320" cy="27432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097280" y="2606040"/>
            <a:ext cx="2560320" cy="6400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E88E5"/>
                </a:solidFill>
                <a:latin typeface="Calibri"/>
              </a:defRPr>
            </a:pPr>
            <a:r>
              <a:rPr dirty="0"/>
              <a:t>ECG Recording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40280" y="3264408"/>
            <a:ext cx="274320" cy="27432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7280" y="3566160"/>
            <a:ext cx="2560320" cy="6400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E88E5"/>
                </a:solidFill>
                <a:latin typeface="Calibri"/>
              </a:defRPr>
            </a:pPr>
            <a:r>
              <a:t>Beat Detection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40280" y="4224528"/>
            <a:ext cx="274320" cy="27432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97280" y="4526280"/>
            <a:ext cx="2560320" cy="6400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t>AI Classification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40280" y="5184648"/>
            <a:ext cx="274320" cy="27432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7280" y="5486400"/>
            <a:ext cx="2560320" cy="6400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t>Clinical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6765" y="1645920"/>
            <a:ext cx="7002780" cy="43891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53965" y="17254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rPr dirty="0"/>
              <a:t>ECG Waveform Morphology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Manual ECG analysis is time-intensive and error-prone — deep learning automates reliable arrhythmia detection.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2 / 13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D10185D-58C2-D85B-29F2-DA25B1BF3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755" y="2057400"/>
            <a:ext cx="6400800" cy="38371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069848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The Class Imbalance Problem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71600"/>
            <a:ext cx="540639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645920"/>
            <a:ext cx="5486400" cy="3657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0" y="178308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rPr dirty="0"/>
              <a:t>Training Set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3172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rPr sz="1400" dirty="0"/>
              <a:t>N —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350008"/>
            <a:ext cx="22860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0" y="2350008"/>
            <a:ext cx="2286000" cy="228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96600" y="254127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Calibri"/>
              </a:defRPr>
            </a:pPr>
            <a:r>
              <a:rPr dirty="0"/>
              <a:t>82.7%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26079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rPr sz="1400" dirty="0"/>
              <a:t>Q — Paced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944368"/>
            <a:ext cx="22860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61120" y="2944368"/>
            <a:ext cx="201787" cy="2286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96600" y="313562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Calibri"/>
              </a:defRPr>
            </a:pPr>
            <a:r>
              <a:rPr dirty="0"/>
              <a:t>7.3%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20439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rPr sz="1400"/>
              <a:t>V — Ventricular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538727"/>
            <a:ext cx="22860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61120" y="3538727"/>
            <a:ext cx="182437" cy="2286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96600" y="372998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Calibri"/>
              </a:defRPr>
            </a:pPr>
            <a:r>
              <a:t>6.6%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1480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rPr sz="1400"/>
              <a:t>S — Supraventricular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133087"/>
            <a:ext cx="22860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61120" y="4133087"/>
            <a:ext cx="137160" cy="2286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96600" y="432435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Calibri"/>
              </a:defRPr>
            </a:pPr>
            <a:r>
              <a:t>2.5%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70916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rPr sz="1400"/>
              <a:t>F — 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4727448"/>
            <a:ext cx="22860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61120" y="4727448"/>
            <a:ext cx="137160" cy="2286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96600" y="491871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Calibri"/>
              </a:defRPr>
            </a:pPr>
            <a:r>
              <a:t>0.7%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5577840"/>
            <a:ext cx="7589520" cy="6400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53935"/>
                </a:solidFill>
                <a:latin typeface="Calibri"/>
              </a:defRPr>
            </a:pPr>
            <a:r>
              <a:t>⚠  82.7% Normal beats dominate — standard models miss rare, dangerous arrhythmias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371600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Evolution of ECG Classification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234440" y="1920239"/>
            <a:ext cx="457200" cy="4572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69747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Traditional</a:t>
            </a:r>
            <a:br/>
            <a:r>
              <a:t>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SVM, KNN</a:t>
            </a:r>
            <a:br/>
            <a:r>
              <a:t>Decision Trees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3108960"/>
            <a:ext cx="32004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74720" y="1920239"/>
            <a:ext cx="457200" cy="4572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56032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69747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Handcrafted</a:t>
            </a:r>
            <a:br/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337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Wavelets</a:t>
            </a:r>
            <a:br/>
            <a:r>
              <a:t>Statistical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63440" y="3108960"/>
            <a:ext cx="32004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15000" y="1920239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56032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269747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E88E5"/>
                </a:solidFill>
                <a:latin typeface="Calibri"/>
              </a:defRPr>
            </a:pPr>
            <a:r>
              <a:t>CNN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337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Automated</a:t>
            </a:r>
            <a:br/>
            <a:r>
              <a:t>Feature Learning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03720" y="3108960"/>
            <a:ext cx="32004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55279" y="1920239"/>
            <a:ext cx="457200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79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56032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269747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565C0"/>
                </a:solidFill>
                <a:latin typeface="Calibri"/>
              </a:defRPr>
            </a:pPr>
            <a:r>
              <a:t>Residual</a:t>
            </a:r>
            <a:br/>
            <a:r>
              <a:t>CNN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337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Skip Connections</a:t>
            </a:r>
            <a:br/>
            <a:r>
              <a:t>Deep Networks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144000" y="3108960"/>
            <a:ext cx="32004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195560" y="1920239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9556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56032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0" y="269747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337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ResNet + SMOTE</a:t>
            </a:r>
            <a:br/>
            <a:r>
              <a:t>Balanced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Reference: Kachuee et al. (2018) — ECG Heartbeat Classification: A Deep Transferable Representation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371600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060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417319" y="2103120"/>
            <a:ext cx="822960" cy="82296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19" y="22402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Implement</a:t>
            </a:r>
            <a:br/>
            <a:r>
              <a:t>Residual 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2240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Reproduce </a:t>
            </a:r>
            <a:r>
              <a:rPr sz="1400" dirty="0" err="1"/>
              <a:t>Kachuee</a:t>
            </a:r>
            <a:r>
              <a:rPr sz="1400" dirty="0"/>
              <a:t> et al.</a:t>
            </a:r>
            <a:br>
              <a:rPr sz="1400" dirty="0"/>
            </a:br>
            <a:r>
              <a:rPr sz="1400" dirty="0"/>
              <a:t>1-D </a:t>
            </a:r>
            <a:r>
              <a:rPr sz="1400" dirty="0" err="1"/>
              <a:t>ResNet</a:t>
            </a:r>
            <a:r>
              <a:rPr sz="1400" dirty="0"/>
              <a:t>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060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97680" y="210312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2402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2004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Handle Class</a:t>
            </a:r>
            <a:br/>
            <a:r>
              <a:t>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23360"/>
            <a:ext cx="2240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Apply SMOTE to balance</a:t>
            </a:r>
            <a:br>
              <a:rPr sz="1400"/>
            </a:br>
            <a:r>
              <a:rPr sz="1400"/>
              <a:t>training distribution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26060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78040" y="2103120"/>
            <a:ext cx="822960" cy="82296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2402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rPr dirty="0"/>
              <a:t>Improve</a:t>
            </a:r>
            <a:br>
              <a:rPr dirty="0"/>
            </a:br>
            <a:r>
              <a:rPr dirty="0"/>
              <a:t>Minority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2240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Increase sensitivity for</a:t>
            </a:r>
            <a:br>
              <a:rPr sz="1400"/>
            </a:br>
            <a:r>
              <a:rPr sz="1400"/>
              <a:t>S and F arrhythmia 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828800"/>
            <a:ext cx="26060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399" y="210312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399" y="22402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32004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Compare</a:t>
            </a:r>
            <a:br/>
            <a:r>
              <a:t>Baseline vs SMOTE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4023360"/>
            <a:ext cx="2240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Controlled experiment with</a:t>
            </a:r>
            <a:br>
              <a:rPr sz="1400"/>
            </a:br>
            <a:r>
              <a:rPr sz="1400"/>
              <a:t>identical architectures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472184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Proposed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554480"/>
            <a:ext cx="2011680" cy="5029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0" y="16184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MIT-BIH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75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87,554 Train · 21,892 Test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60745" y="2286000"/>
            <a:ext cx="274320" cy="32004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10075" y="2651760"/>
            <a:ext cx="3453765" cy="5029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0075" y="2715768"/>
            <a:ext cx="34537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846320" y="3200400"/>
            <a:ext cx="274320" cy="320040"/>
          </a:xfrm>
          <a:prstGeom prst="down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7132320" y="3200400"/>
            <a:ext cx="274320" cy="32004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65220" y="3611880"/>
            <a:ext cx="201168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65220" y="367588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Baseline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8940" y="3611880"/>
            <a:ext cx="201168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58940" y="367588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2E7D32"/>
                </a:solidFill>
                <a:latin typeface="Calibri"/>
              </a:defRPr>
            </a:pPr>
            <a:r>
              <a:t>SMOTE Path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147309" y="4160520"/>
            <a:ext cx="274320" cy="320040"/>
          </a:xfrm>
          <a:prstGeom prst="downArrow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7004684" y="4160520"/>
            <a:ext cx="274320" cy="32004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46320" y="4572000"/>
            <a:ext cx="266890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4636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1-D Residual CNN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21705" y="5114925"/>
            <a:ext cx="274320" cy="32004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5225415" y="5486400"/>
            <a:ext cx="2011680" cy="5029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25415" y="5550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E"/>
                </a:solidFill>
                <a:latin typeface="Calibri"/>
              </a:defRPr>
            </a:pPr>
            <a:r>
              <a:t>Evaluation &amp; Comparison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7650" y="1685925"/>
            <a:ext cx="320040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0530" y="1777365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Pipeline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530" y="223456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200"/>
              <a:t>▸ CSV → Numpy → Reshape (N, 187, 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530" y="264604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200"/>
              <a:t>▸ SMOTE applied to training set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530" y="305752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200"/>
              <a:t>▸ Same CNN for both experiments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530" y="346900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200"/>
              <a:t>▸ Adam optimizer, LR = 1e-3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530" y="388048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200"/>
              <a:t>▸ Batch size: 256, Epochs: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530" y="429196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200"/>
              <a:t>▸ EarlyStopping (patience=5)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530" y="470344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200" dirty="0"/>
              <a:t>▸ </a:t>
            </a:r>
            <a:r>
              <a:rPr sz="1200" dirty="0" err="1"/>
              <a:t>ReduceLROnPlateau</a:t>
            </a:r>
            <a:r>
              <a:rPr sz="1200" dirty="0"/>
              <a:t> (patience=3)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530" y="5114925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200" dirty="0"/>
              <a:t>▸ Evaluated on identical test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1828800"/>
            <a:ext cx="2560320" cy="1828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Color Legend</a:t>
            </a:r>
          </a:p>
        </p:txBody>
      </p:sp>
      <p:sp>
        <p:nvSpPr>
          <p:cNvPr id="35" name="Oval 34"/>
          <p:cNvSpPr/>
          <p:nvPr/>
        </p:nvSpPr>
        <p:spPr>
          <a:xfrm>
            <a:off x="9418320" y="2331720"/>
            <a:ext cx="182880" cy="1828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9264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E88E5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37" name="Oval 36"/>
          <p:cNvSpPr/>
          <p:nvPr/>
        </p:nvSpPr>
        <p:spPr>
          <a:xfrm>
            <a:off x="9418320" y="2697479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9264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SMOTE</a:t>
            </a:r>
          </a:p>
        </p:txBody>
      </p:sp>
      <p:sp>
        <p:nvSpPr>
          <p:cNvPr id="39" name="Oval 38"/>
          <p:cNvSpPr/>
          <p:nvPr/>
        </p:nvSpPr>
        <p:spPr>
          <a:xfrm>
            <a:off x="9418320" y="3063239"/>
            <a:ext cx="182880" cy="1828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92640" y="3035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libri"/>
              </a:defRPr>
            </a:pPr>
            <a:r>
              <a:t>Shared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572768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1-D Residual CNN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2743200" cy="4572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Input (187, 1)</a:t>
            </a:r>
          </a:p>
        </p:txBody>
      </p:sp>
      <p:sp>
        <p:nvSpPr>
          <p:cNvPr id="6" name="Down Arrow 5"/>
          <p:cNvSpPr/>
          <p:nvPr/>
        </p:nvSpPr>
        <p:spPr>
          <a:xfrm>
            <a:off x="2148840" y="2039112"/>
            <a:ext cx="274320" cy="146304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212848"/>
            <a:ext cx="274320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E88E5"/>
                </a:solidFill>
                <a:latin typeface="Calibri"/>
              </a:defRPr>
            </a:pPr>
            <a:r>
              <a:t>Conv1D (32, 5)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48840" y="2697480"/>
            <a:ext cx="274320" cy="146304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2871215"/>
            <a:ext cx="274320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1693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565C0"/>
                </a:solidFill>
                <a:latin typeface="Calibri"/>
              </a:defRPr>
            </a:pPr>
            <a:r>
              <a:t>Residual Block × 5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48840" y="3355848"/>
            <a:ext cx="274320" cy="146304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3529584"/>
            <a:ext cx="2743200" cy="4572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753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666666"/>
                </a:solidFill>
                <a:latin typeface="Calibri"/>
              </a:defRPr>
            </a:pPr>
            <a:r>
              <a:t>Flatten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48840" y="4014216"/>
            <a:ext cx="274320" cy="146304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4187952"/>
            <a:ext cx="2743200" cy="4572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33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666666"/>
                </a:solidFill>
                <a:latin typeface="Calibri"/>
              </a:defRPr>
            </a:pPr>
            <a:r>
              <a:t>Dense (32) + ReLU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148840" y="4672584"/>
            <a:ext cx="274320" cy="146304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4846320"/>
            <a:ext cx="2743200" cy="4572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666666"/>
                </a:solidFill>
                <a:latin typeface="Calibri"/>
              </a:defRPr>
            </a:pPr>
            <a:r>
              <a:t>Dense (32) + ReLU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148840" y="5330952"/>
            <a:ext cx="274320" cy="146304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5504688"/>
            <a:ext cx="2743200" cy="457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550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7D32"/>
                </a:solidFill>
                <a:latin typeface="Calibri"/>
              </a:defRPr>
            </a:pPr>
            <a:r>
              <a:t>Softmax (5)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1554480"/>
            <a:ext cx="4114800" cy="43891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1E88E5"/>
                </a:solidFill>
                <a:latin typeface="Calibri"/>
              </a:defRPr>
            </a:pPr>
            <a:r>
              <a:t>Residual Block Detail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194560"/>
            <a:ext cx="256032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2212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Input Tensor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6903720" y="2578608"/>
            <a:ext cx="228600" cy="15544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760720" y="2761488"/>
            <a:ext cx="2560320" cy="365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779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E88E5"/>
                </a:solidFill>
                <a:latin typeface="Calibri"/>
              </a:defRPr>
            </a:pPr>
            <a:r>
              <a:t>Conv1D + ReLU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903720" y="3145536"/>
            <a:ext cx="228600" cy="15544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760720" y="3328415"/>
            <a:ext cx="2560320" cy="365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0" y="334670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E88E5"/>
                </a:solidFill>
                <a:latin typeface="Calibri"/>
              </a:defRPr>
            </a:pPr>
            <a:r>
              <a:t>Conv1D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6903720" y="3712463"/>
            <a:ext cx="228600" cy="15544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760720" y="3895344"/>
            <a:ext cx="256032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39136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Add (Skip)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6903720" y="4279392"/>
            <a:ext cx="228600" cy="15544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760720" y="4462272"/>
            <a:ext cx="2560320" cy="36576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0" y="44805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ReLU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6903720" y="4846320"/>
            <a:ext cx="228600" cy="15544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760720" y="5029200"/>
            <a:ext cx="2560320" cy="36576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0" y="5047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MaxPool1D (5,2)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56032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E7D32"/>
                </a:solidFill>
                <a:latin typeface="Calibri"/>
              </a:defRPr>
            </a:pPr>
            <a:r>
              <a:t>Skip</a:t>
            </a:r>
            <a:br/>
            <a:r>
              <a:t>Connection</a:t>
            </a:r>
            <a:br/>
            <a:r>
              <a:t>→ Add</a:t>
            </a:r>
          </a:p>
        </p:txBody>
      </p:sp>
      <p:sp>
        <p:nvSpPr>
          <p:cNvPr id="44" name="Right Brace 43"/>
          <p:cNvSpPr/>
          <p:nvPr/>
        </p:nvSpPr>
        <p:spPr>
          <a:xfrm>
            <a:off x="8412480" y="2286000"/>
            <a:ext cx="365760" cy="1828800"/>
          </a:xfrm>
          <a:prstGeom prst="rightBrace">
            <a:avLst/>
          </a:prstGeom>
          <a:noFill/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601200" y="1554480"/>
            <a:ext cx="21031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0" y="1691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E88E5"/>
                </a:solidFill>
                <a:latin typeface="Calibri"/>
              </a:defRPr>
            </a:pPr>
            <a:r>
              <a:t>Model Stats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2194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Conv Layers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21945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0" y="2697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Residual Blocks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2697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3200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Dense Layers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3200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60" y="3703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Kernel Size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3703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4206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Filters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4206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47091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Pool Size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47091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38360" y="52120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Pool Stride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81360" y="5212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The same CNN architecture was used for both experiments to ensure a fair, controlled comparison.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975104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BASELINE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Baseline Model Performance</a:t>
            </a:r>
          </a:p>
        </p:txBody>
      </p:sp>
      <p:pic>
        <p:nvPicPr>
          <p:cNvPr id="4" name="Picture 3" descr="confusion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4864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64592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E88E5"/>
                </a:solidFill>
                <a:latin typeface="Calibri"/>
              </a:defRPr>
            </a:pPr>
            <a:r>
              <a:t>98.70%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33172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Overall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64592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E88E5"/>
                </a:solidFill>
                <a:latin typeface="Calibri"/>
              </a:defRPr>
            </a:pPr>
            <a:r>
              <a:t>92.78%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33172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Macro F1-Score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108960"/>
            <a:ext cx="2377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E53935"/>
                </a:solidFill>
                <a:latin typeface="Calibri"/>
              </a:defRPr>
            </a:pPr>
            <a:r>
              <a:t>79.3%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92855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Recall — Class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108960"/>
            <a:ext cx="2377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E53935"/>
                </a:solidFill>
                <a:latin typeface="Calibri"/>
              </a:defRPr>
            </a:pPr>
            <a:r>
              <a:t>78.4%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792855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Recall — Class 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389120"/>
            <a:ext cx="2377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E88E5"/>
                </a:solidFill>
                <a:latin typeface="Calibri"/>
              </a:defRPr>
            </a:pPr>
            <a:r>
              <a:t>95.1%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73015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Recall — Class 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389120"/>
            <a:ext cx="23774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4526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E88E5"/>
                </a:solidFill>
                <a:latin typeface="Calibri"/>
              </a:defRPr>
            </a:pPr>
            <a:r>
              <a:t>98.9%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073015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Recall — Class Q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669280"/>
            <a:ext cx="5029200" cy="5029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57332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E53935"/>
                </a:solidFill>
                <a:latin typeface="Calibri"/>
              </a:defRPr>
            </a:pPr>
            <a:r>
              <a:t>⚠ Missing &gt;20% of S and F arrhythmias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673352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SMOTE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SMOTE Model Performance</a:t>
            </a:r>
          </a:p>
        </p:txBody>
      </p:sp>
      <p:pic>
        <p:nvPicPr>
          <p:cNvPr id="4" name="Picture 3" descr="confusion_s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4864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64592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2E7D32"/>
                </a:solidFill>
                <a:latin typeface="Calibri"/>
              </a:defRPr>
            </a:pPr>
            <a:r>
              <a:t>98.69%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33172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Overall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64592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2E7D32"/>
                </a:solidFill>
                <a:latin typeface="Calibri"/>
              </a:defRPr>
            </a:pPr>
            <a:r>
              <a:t>92.81%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33172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Macro F1-Score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10896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43A047"/>
                </a:solidFill>
                <a:latin typeface="Calibri"/>
              </a:defRPr>
            </a:pPr>
            <a:r>
              <a:t>84.0%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9476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Recall — Class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▲ +4.7%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10896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43A047"/>
                </a:solidFill>
                <a:latin typeface="Calibri"/>
              </a:defRPr>
            </a:pPr>
            <a:r>
              <a:t>82.7%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79476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Recall — Class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2E7D32"/>
                </a:solidFill>
                <a:latin typeface="Calibri"/>
              </a:defRPr>
            </a:pPr>
            <a:r>
              <a:t>▲ +4.3%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572000"/>
            <a:ext cx="23774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709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2E7D32"/>
                </a:solidFill>
                <a:latin typeface="Calibri"/>
              </a:defRPr>
            </a:pPr>
            <a:r>
              <a:t>95.5%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3113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Recall — Class 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571999"/>
            <a:ext cx="2377440" cy="1051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4709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2E7D32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523113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Recall — Class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760720"/>
            <a:ext cx="5029200" cy="457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E7D32"/>
                </a:solidFill>
                <a:latin typeface="Calibri"/>
              </a:defRPr>
            </a:pPr>
            <a:r>
              <a:t>✓ SMOTE significantly improved minority class detection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37160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Baseline vs SMOTE — Head-to-Head</a:t>
            </a:r>
          </a:p>
        </p:txBody>
      </p:sp>
      <p:pic>
        <p:nvPicPr>
          <p:cNvPr id="4" name="Picture 3" descr="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4" y="1645920"/>
            <a:ext cx="5860129" cy="41020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645920"/>
            <a:ext cx="5029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0" y="16916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rPr sz="1600"/>
              <a:t>Overall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6916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rPr sz="1600"/>
              <a:t>≈ 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98.70% → 98.69%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697480"/>
            <a:ext cx="5029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rPr sz="1600"/>
              <a:t>Minority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7432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rPr sz="1600"/>
              <a:t>▲ Improved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08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S: +4.7%  F: +4.3%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749039"/>
            <a:ext cx="5029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3794759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rPr sz="1600" dirty="0"/>
              <a:t>Clinical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794759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2E7D32"/>
                </a:solidFill>
                <a:latin typeface="Calibri"/>
              </a:defRPr>
            </a:pPr>
            <a:r>
              <a:rPr sz="1600" dirty="0"/>
              <a:t>▲ Improved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160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Fewer missed arrhythmias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846320"/>
            <a:ext cx="5029200" cy="1554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4892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rPr dirty="0"/>
              <a:t>Metric </a:t>
            </a:r>
            <a:r>
              <a:rPr sz="1400" dirty="0"/>
              <a:t>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21208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100"/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521208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100"/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21208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100"/>
              <a:t>SMOTE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21208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88E5"/>
                </a:solidFill>
                <a:latin typeface="Calibri"/>
              </a:defRPr>
            </a:pPr>
            <a:r>
              <a:rPr sz="1100" dirty="0"/>
              <a:t>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48640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rPr sz="1100"/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548640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rPr sz="1100"/>
              <a:t>98.70%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48640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rPr sz="1100"/>
              <a:t>98.69%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548640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53935"/>
                </a:solidFill>
                <a:latin typeface="Calibri"/>
              </a:defRPr>
            </a:pPr>
            <a:r>
              <a:rPr sz="1100"/>
              <a:t>-0.01%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687568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rPr sz="1100"/>
              <a:t>Macro 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5687568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rPr sz="1100" dirty="0"/>
              <a:t>92.78%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687568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rPr sz="1100"/>
              <a:t>92.81%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687568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  <a:latin typeface="Calibri"/>
              </a:defRPr>
            </a:pPr>
            <a:r>
              <a:rPr sz="1100"/>
              <a:t>+0.03%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888736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rPr sz="1100"/>
              <a:t>Recall (S)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5888736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rPr sz="1100"/>
              <a:t>79.3%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888736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rPr sz="1100"/>
              <a:t>84.0%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888736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  <a:latin typeface="Calibri"/>
              </a:defRPr>
            </a:pPr>
            <a:r>
              <a:rPr sz="1100"/>
              <a:t>+4.67%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6089904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rPr sz="1100"/>
              <a:t>Recall (F)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6089904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rPr sz="1100"/>
              <a:t>78.4%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089904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rPr sz="1100"/>
              <a:t>82.7%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089904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  <a:latin typeface="Calibri"/>
              </a:defRPr>
            </a:pPr>
            <a:r>
              <a:rPr sz="1100"/>
              <a:t>+4.32%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572768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210312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240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SMOTE Effectiveness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840480"/>
            <a:ext cx="3108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Synthetic oversampling improved</a:t>
            </a:r>
            <a:br>
              <a:rPr sz="1400" dirty="0"/>
            </a:br>
            <a:r>
              <a:rPr sz="1400" dirty="0"/>
              <a:t>minority class detection by up to</a:t>
            </a:r>
            <a:br>
              <a:rPr sz="1400" dirty="0"/>
            </a:br>
            <a:r>
              <a:rPr sz="1400" dirty="0"/>
              <a:t>+4.67% recall without degrading</a:t>
            </a:r>
            <a:br>
              <a:rPr sz="1400" dirty="0"/>
            </a:br>
            <a:r>
              <a:rPr sz="1400" dirty="0"/>
              <a:t>overall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9279" y="2103120"/>
            <a:ext cx="914400" cy="9144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79" y="2240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Recall Over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40480"/>
            <a:ext cx="3108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In medical diagnosis, missing a</a:t>
            </a:r>
            <a:br>
              <a:rPr sz="1400"/>
            </a:br>
            <a:r>
              <a:rPr sz="1400"/>
              <a:t>dangerous arrhythmia (false negative)</a:t>
            </a:r>
            <a:br>
              <a:rPr sz="1400"/>
            </a:br>
            <a:r>
              <a:rPr sz="1400"/>
              <a:t>is far worse than a false alarm.</a:t>
            </a:r>
            <a:br>
              <a:rPr sz="1400"/>
            </a:br>
            <a:r>
              <a:rPr sz="1400"/>
              <a:t>Recall is the priority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0" y="2103120"/>
            <a:ext cx="914400" cy="91440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240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Precision-Recall 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40480"/>
            <a:ext cx="3108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SMOTE shifted decision boundaries:</a:t>
            </a:r>
            <a:br>
              <a:rPr sz="1400"/>
            </a:br>
            <a:r>
              <a:rPr sz="1400"/>
              <a:t>precision on Class S dropped from</a:t>
            </a:r>
            <a:br>
              <a:rPr sz="1400"/>
            </a:br>
            <a:r>
              <a:rPr sz="1400"/>
              <a:t>93.2% → 87.8% while recall rose</a:t>
            </a:r>
            <a:br>
              <a:rPr sz="1400"/>
            </a:br>
            <a:r>
              <a:rPr sz="1400"/>
              <a:t>from 79.3% → 84.0%.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760720"/>
            <a:ext cx="9418320" cy="457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E88E5"/>
                </a:solidFill>
                <a:latin typeface="Calibri"/>
              </a:defRPr>
            </a:pPr>
            <a:r>
              <a:t>Overall accuracy is a misleading metric in imbalanced medical datasets — class-specific recall reveals the true clinical picture.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1371600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Calibri"/>
              </a:defRPr>
            </a:pPr>
            <a:r>
              <a:rPr dirty="0"/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399" y="1828800"/>
            <a:ext cx="10088881" cy="13716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9466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E88E5"/>
                </a:solidFill>
                <a:latin typeface="Calibri"/>
              </a:defRPr>
            </a:pPr>
            <a:r>
              <a:rPr dirty="0"/>
              <a:t>SMOTE improved minority heartbeat detection</a:t>
            </a:r>
            <a:br>
              <a:rPr dirty="0"/>
            </a:br>
            <a:r>
              <a:rPr dirty="0"/>
              <a:t>while maintaining excellent overall CNN performance.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370332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6576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rPr sz="1600" dirty="0"/>
              <a:t>Baseline Successfully Reproduced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97763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98.70% accuracy on MIT-BIH dataset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480559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43484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rPr sz="1600" dirty="0"/>
              <a:t>Minority Recall Improved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75487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/>
              <a:t>Class S: +4.67%  |  Class F: +4.32%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52578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1208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rPr sz="1600" dirty="0"/>
              <a:t>Reproducible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53212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Modular code, documented, open-source ready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1A1A2E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1E88E5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rPr sz="2400" dirty="0"/>
              <a:t>Ribbie Mohammad Omar   ·   Md. Abdullah </a:t>
            </a:r>
            <a:r>
              <a:rPr sz="2400" dirty="0" err="1"/>
              <a:t>Ibna</a:t>
            </a:r>
            <a:r>
              <a:rPr sz="2400" dirty="0"/>
              <a:t> Shad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rPr dirty="0"/>
              <a:t>Department of </a:t>
            </a:r>
            <a:r>
              <a:rPr lang="en-US" dirty="0"/>
              <a:t>Electrical and Computer </a:t>
            </a:r>
            <a:r>
              <a:rPr dirty="0"/>
              <a:t>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91695" cy="3657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827</Words>
  <Application>Microsoft Office PowerPoint</Application>
  <PresentationFormat>Widescreen</PresentationFormat>
  <Paragraphs>227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Ribbie Mohammad Omar</cp:lastModifiedBy>
  <cp:revision>1</cp:revision>
  <dcterms:created xsi:type="dcterms:W3CDTF">2013-01-27T09:14:16Z</dcterms:created>
  <dcterms:modified xsi:type="dcterms:W3CDTF">2026-07-13T21:14:22Z</dcterms:modified>
  <cp:category/>
</cp:coreProperties>
</file>